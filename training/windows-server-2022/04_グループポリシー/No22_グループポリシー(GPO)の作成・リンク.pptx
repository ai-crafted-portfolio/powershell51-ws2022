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30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Windows Server 2022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25880"/>
            <a:ext cx="8229600" cy="82296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30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2194560"/>
            <a:ext cx="8229600" cy="0"/>
          </a:xfrm>
          <a:prstGeom prst="bentConnector3">
            <a:avLst/>
          </a:prstGeom>
          <a:ln w="2540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57200" y="2304288"/>
            <a:ext cx="8229600" cy="32004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8229600" cy="2743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012183"/>
            <a:ext cx="8229600" cy="46837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5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凡例：・＝要点／－＝補足　｜　枠線囲みのMS Gothic＝コマンド・設定　｜　出典はMicrosoft Learn公式（末尾スライドにURL）。値・パスは標準既定の例で実環境確認が必要。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この研修シリーズでの位置づけ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311886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・1. サーバ管理基盤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・2. Active Directoryドメインサービス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・3. 認証・証明書・フェデレーション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・▶ 4. グループポリシー　（この項目が属する分類）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・5. DNS/DHCP/IPAM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・6. ネットワーク構成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・7. SDN・ネットワーク仮想化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・8. ストレージ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・9. 分散ファイル・レプリケーション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・10. クラスタリング・可用性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・11. Hyper-V仮想化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・12. リモートデスクトップ・アプリ配信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・13. Web/アプリ・配置基盤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・14. セキュリティ・ハードニング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・15. バックアップ・保守・診断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扱う対象と前提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設定を組織全体へ一括配布するグループポリシー。作成・リンク・適用確認までを扱う分類です。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706880"/>
            <a:ext cx="8229600" cy="25908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grouppolicyでGPO作成/リンク/バックアップ/インポート。ドメイン全体の設定配布。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15210"/>
            <a:ext cx="8229600" cy="84023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・該当する役割/機能をサーバーマネージャーまたは Install-WindowsFeature で導入済みであること。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・管理コマンドは grouppolicy モジュール（役割導入時に併せて追加）を使用する。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・操作は原則 PowerShell（管理者）で実行。GUIツールがある場合は併記。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想定作業（この項目で何をするか）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114909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・適用GPO・リンク構成の確認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・標準的な作業の流れ（参考）：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－現状の設定・構成を確認する（次スライドのコマンド・確認キー）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－必要に応じて作成・変更・削除など目的の操作を行う</a:t>
            </a:r>
          </a:p>
          <a:p>
            <a:pPr algn="l"/>
            <a:r>
              <a:rPr sz="12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　－変更後は反映・動作を検証し、記録する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62305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使用判断のポイント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935732"/>
            <a:ext cx="8229600" cy="24206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この設定・機能が実環境で使われているかは、下記の確認キーで判断します。使っていなければ研修採用の要否を検討します。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主要コマンド（例）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428242"/>
            <a:ext cx="8229600" cy="895096"/>
          </a:xfrm>
          <a:prstGeom prst="rect">
            <a:avLst/>
          </a:prstGeom>
          <a:noFill/>
          <a:ln w="12700">
            <a:solidFill>
              <a:srgbClr val="9DB7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Get-GPO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New-GPO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New-GPLink</a:t>
            </a:r>
          </a:p>
          <a:p>
            <a:pPr algn="l"/>
            <a:r>
              <a:rPr sz="1100" b="0">
                <a:solidFill>
                  <a:srgbClr val="1A3555"/>
                </a:solidFill>
                <a:latin typeface="MS Gothic"/>
                <a:ea typeface="MS Gothic"/>
                <a:cs typeface="MS Gothic"/>
              </a:rPr>
              <a:t>PS C:\&gt; Backup-GPO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378202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確認する値・キー（使用判断）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90876"/>
            <a:ext cx="8229600" cy="85852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・Get-GPO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・New-GPO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・New-GPLink</a:t>
            </a:r>
          </a:p>
          <a:p>
            <a:pPr algn="l"/>
            <a:r>
              <a:rPr sz="11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・Backup-GPO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この項目で使う主なコマンドレット（抜粋）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31394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New-GPLink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新規作成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Backup-GPO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バックアップ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Copy-GPO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コピー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Import-GPO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インポート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Invoke-GPUpdate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実行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Remove-GPLink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削除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Rename-GPO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名前変更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Restore-GPO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復元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Set-GPInheritance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設定・変更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115568"/>
          <a:ext cx="8229600" cy="10464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114800"/>
                <a:gridCol w="4114800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主な用途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Get-GPInheritance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Get-GPOReport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Get-GPPermission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取得・確認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2235200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補足：上表はモジュールの代表的なコマンドレットの抜粋です。全体は Get-Command -Module &lt;モジュール名&gt; で確認できます。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定義ファイル・場所（早見）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7848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19088"/>
                <a:gridCol w="1810512"/>
              </a:tblGrid>
              <a:tr h="26162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場所・ファイル・モジュール（標準既定の例）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確認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grouppolicy モジュール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261620"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SYSVOL\Policies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実環境で要確認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457200" y="2286254"/>
            <a:ext cx="8229600" cy="333502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補足：パス・既定値はバージョン/構成で異なります。必ず実環境で確認してください。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用語集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1428242"/>
          <a:ext cx="8229600" cy="21653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45920"/>
                <a:gridCol w="2139696"/>
                <a:gridCol w="4443984"/>
              </a:tblGrid>
              <a:tr h="360891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用語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区分・変更可否（既定値）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Meiryo UI"/>
                          <a:ea typeface="Meiryo UI"/>
                          <a:cs typeface="Meiryo UI"/>
                        </a:rPr>
                        <a:t>説明</a:t>
                      </a:r>
                    </a:p>
                  </a:txBody>
                  <a:tcPr marL="45720" marR="45720" marT="18288" marB="18288">
                    <a:solidFill>
                      <a:srgbClr val="1F4E78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grouppolicy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モジュール名（固定）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本項目の操作を提供するモジュール。Import-Module grouppolicy で利用。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モジュール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配布単位（固定名）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関連コマンドレットをまとめた配布単位。Import-Moduleで読み込む。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設定オブジェクト（任意名）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グループポリシーオブジェクト。設定をまとめて配布する。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  <a:tr h="360891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Get-GPO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Get-GPO で詳細。</a:t>
                      </a:r>
                    </a:p>
                  </a:txBody>
                  <a:tcPr marL="45720" marR="45720" marT="18288" marB="18288">
                    <a:solidFill>
                      <a:srgbClr val="EEF3FA"/>
                    </a:solidFill>
                  </a:tcPr>
                </a:tc>
              </a:tr>
              <a:tr h="360895"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New-GPO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コマンドレット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950">
                          <a:solidFill>
                            <a:srgbClr val="222222"/>
                          </a:solidFill>
                          <a:latin typeface="Meiryo"/>
                          <a:ea typeface="Meiryo"/>
                          <a:cs typeface="Meiryo"/>
                        </a:rPr>
                        <a:t>本項目で使用する主要コマンドレット。Get-Help New-GPO で詳細。</a:t>
                      </a:r>
                    </a:p>
                  </a:txBody>
                  <a:tcPr marL="45720" marR="45720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115568"/>
            <a:ext cx="8229600" cy="312674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250" b="1">
                <a:solidFill>
                  <a:srgbClr val="2E75B6"/>
                </a:solidFill>
                <a:latin typeface="Meiryo UI"/>
                <a:ea typeface="Meiryo UI"/>
                <a:cs typeface="Meiryo UI"/>
              </a:rPr>
              <a:t>出典（Microsoft Learn 公式資料）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8242"/>
            <a:ext cx="8229600" cy="268071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・Get-GPO
https://learn.microsoft.com/ja-jp/powershell/module/grouppolicy/get-gpo/?view=windowsserver2022-ps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・New-GPO
https://learn.microsoft.com/ja-jp/powershell/module/grouppolicy/new-gpo/?view=windowsserver2022-ps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・New-GPLink
https://learn.microsoft.com/ja-jp/powershell/module/grouppolicy/new-gplink/?view=windowsserver2022-ps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・Backup-GPO
https://learn.microsoft.com/ja-jp/powershell/module/grouppolicy/backup-gpo/?view=windowsserver2022-ps</a:t>
            </a:r>
          </a:p>
          <a:p>
            <a:pPr algn="l"/>
            <a:r>
              <a:rPr sz="1000" b="0">
                <a:solidFill>
                  <a:srgbClr val="222222"/>
                </a:solidFill>
                <a:latin typeface="Meiryo"/>
                <a:ea typeface="Meiryo"/>
                <a:cs typeface="Meiryo"/>
              </a:rPr>
              <a:t>・grouppolicy モジュール 概要
https://learn.microsoft.com/ja-jp/powershell/module/grouppolicy/?view=windowsserver2022-ps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1800" b="1">
                <a:solidFill>
                  <a:srgbClr val="1F4E78"/>
                </a:solidFill>
                <a:latin typeface="Meiryo UI"/>
                <a:ea typeface="Meiryo UI"/>
                <a:cs typeface="Meiryo UI"/>
              </a:rPr>
              <a:t>グループポリシー(GPO)の作成・リンク（続き）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713232"/>
            <a:ext cx="8229600" cy="0"/>
          </a:xfrm>
          <a:prstGeom prst="bentConnector3">
            <a:avLst/>
          </a:prstGeom>
          <a:ln w="17780">
            <a:solidFill>
              <a:srgbClr val="2E75B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7200" y="722376"/>
            <a:ext cx="8229600" cy="219456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9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4. グループポリシー　&gt;　管理　&gt;　GPO運用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8229600" cy="164592"/>
          </a:xfrm>
          <a:prstGeom prst="rect">
            <a:avLst/>
          </a:prstGeom>
          <a:noFill/>
        </p:spPr>
        <p:txBody>
          <a:bodyPr wrap="square" lIns="45720" rIns="45720" tIns="18288" bIns="18288">
            <a:noAutofit/>
          </a:bodyPr>
          <a:lstStyle/>
          <a:p>
            <a:pPr algn="l"/>
            <a:r>
              <a:rPr sz="800" b="0">
                <a:solidFill>
                  <a:srgbClr val="707070"/>
                </a:solidFill>
                <a:latin typeface="Meiryo"/>
                <a:ea typeface="Meiryo"/>
                <a:cs typeface="Meiryo"/>
              </a:rPr>
              <a:t>Windows Server 2022 運用　No.22　／　4. グループポリシー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115568"/>
            <a:ext cx="8229600" cy="520700"/>
          </a:xfrm>
          <a:prstGeom prst="roundRect">
            <a:avLst/>
          </a:prstGeom>
          <a:noFill/>
          <a:ln w="11430">
            <a:solidFill>
              <a:srgbClr val="2E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54864" bIns="54864">
            <a:noAutofit/>
          </a:bodyPr>
          <a:lstStyle/>
          <a:p>
            <a:pPr algn="l"/>
            <a:r>
              <a:rPr sz="1100" b="0">
                <a:solidFill>
                  <a:srgbClr val="1A3555"/>
                </a:solidFill>
                <a:latin typeface="Meiryo"/>
                <a:ea typeface="Meiryo"/>
                <a:cs typeface="Meiryo"/>
              </a:rPr>
              <a:t>補足：日本語訳が機械翻訳の頁は英語原文（上記URL）を正とします。社内既存ナレッジ（C:\oskb PS51-WS2022 4,030件）とも整合。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