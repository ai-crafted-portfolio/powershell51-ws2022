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30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Windows Server 2022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25880"/>
            <a:ext cx="8229600" cy="82296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30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SMB共有(SmbShare)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2194560"/>
            <a:ext cx="8229600" cy="0"/>
          </a:xfrm>
          <a:prstGeom prst="bentConnector3">
            <a:avLst/>
          </a:prstGeom>
          <a:ln w="2540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2304288"/>
            <a:ext cx="82296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8. ストレージ　&gt;　共有　&gt;　SMB共有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65176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No.48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012183"/>
            <a:ext cx="8229600" cy="46837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5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凡例：・＝要点／－＝補足　｜　枠線囲みのMS Gothic＝コマンド・設定　｜　出典はMicrosoft Learn公式（末尾スライドにURL）。値・パスは標準既定の例で実環境確認が必要。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SMB共有(SmbShare)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8. ストレージ　&gt;　共有　&gt;　SMB共有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No.48　／　8. ストレージ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この研修シリーズでの位置づけ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311886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・1. サーバ管理基盤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・2. Active Directoryドメインサービス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・3. 認証・証明書・フェデレーション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・4. グループポリシー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・5. DNS/DHCP/IPAM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・6. ネットワーク構成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・7. SDN・ネットワーク仮想化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・▶ 8. ストレージ　（この項目が属する分類）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・9. 分散ファイル・レプリケーション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・10. クラスタリング・可用性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・11. Hyper-V仮想化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・12. リモートデスクトップ・アプリ配信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・13. Web/アプリ・配置基盤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・14. セキュリティ・ハードニング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・15. バックアップ・保守・診断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SMB共有(SmbShare)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8. ストレージ　&gt;　共有　&gt;　SMB共有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No.48　／　8. ストレージ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扱う対象と前提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24206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ディスク・記憶域・共有・重複除去・レプリカなど、サーバーのストレージ運用全般を扱う分類です。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706880"/>
            <a:ext cx="8229600" cy="25908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smbshareで共有作成/権限/セッション、smbwitnessで可用性を管理。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002536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前提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315210"/>
            <a:ext cx="8229600" cy="84023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・該当する役割/機能をサーバーマネージャーまたは Install-WindowsFeature で導入済みであること。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・管理コマンドは smbshare モジュール（役割導入時に併せて追加）を使用する。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・操作は原則 PowerShell（管理者）で実行。GUIツールがある場合は併記。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SMB共有(SmbShare)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8. ストレージ　&gt;　共有　&gt;　SMB共有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No.48　／　8. ストレージ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想定作業（この項目で何をするか）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114909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・ファイル共有構成の確認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・標準的な作業の流れ（参考）：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　－現状の設定・構成を確認する（次スライドのコマンド・確認キー）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　－必要に応じて作成・変更・削除など目的の操作を行う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　－変更後は反映・動作を検証し、記録する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2305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使用判断のポイント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935732"/>
            <a:ext cx="8229600" cy="24206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この設定・機能が実環境で使われているかは、下記の確認キーで判断します。使っていなければ研修採用の要否を検討します。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SMB共有(SmbShare)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8. ストレージ　&gt;　共有　&gt;　SMB共有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No.48　／　8. ストレージ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主要コマンド（例）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28242"/>
            <a:ext cx="8229600" cy="707898"/>
          </a:xfrm>
          <a:prstGeom prst="rect">
            <a:avLst/>
          </a:prstGeom>
          <a:noFill/>
          <a:ln w="12700">
            <a:solidFill>
              <a:srgbClr val="9DB7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S Gothic"/>
                <a:ea typeface="MS Gothic"/>
                <a:cs typeface="MS Gothic"/>
              </a:rPr>
              <a:t>PS C:\&gt; Get-SmbShare</a:t>
            </a:r>
          </a:p>
          <a:p>
            <a:pPr algn="l"/>
            <a:r>
              <a:rPr sz="1100" b="0">
                <a:solidFill>
                  <a:srgbClr val="1A3555"/>
                </a:solidFill>
                <a:latin typeface="MS Gothic"/>
                <a:ea typeface="MS Gothic"/>
                <a:cs typeface="MS Gothic"/>
              </a:rPr>
              <a:t>PS C:\&gt; New-SmbShare</a:t>
            </a:r>
          </a:p>
          <a:p>
            <a:pPr algn="l"/>
            <a:r>
              <a:rPr sz="1100" b="0">
                <a:solidFill>
                  <a:srgbClr val="1A3555"/>
                </a:solidFill>
                <a:latin typeface="MS Gothic"/>
                <a:ea typeface="MS Gothic"/>
                <a:cs typeface="MS Gothic"/>
              </a:rPr>
              <a:t>PS C:\&gt; Get-SmbOpenFile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91004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確認する値・キー（使用判断）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503678"/>
            <a:ext cx="8229600" cy="65303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・Get-SmbShare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・New-SmbShare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・Get-SmbOpenFile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SMB共有(SmbShare)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8. ストレージ　&gt;　共有　&gt;　SMB共有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No.48　／　8. ストレージ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この項目で使う主なコマンドレット（抜粋）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28242"/>
          <a:ext cx="8229600" cy="31394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114800"/>
                <a:gridCol w="4114800"/>
              </a:tblGrid>
              <a:tr h="26162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コマンドレット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主な用途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Get-SmbShare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取得・確認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New-SmbShare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新規作成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Get-SmbOpenFile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取得・確認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Block-SmbClientAccessToServer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ブロック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Close-SmbOpenFile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操作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Disable-SmbDelegation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無効化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Enable-SmbDelegation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有効化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Grant-SmbClientAccessToServer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権限付与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Remove-SmbBandwidthLimit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削除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Reset-SmbClientConfiguration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リセット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Revoke-SmbClientAccessToServer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権限取消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SMB共有(SmbShare)（続き）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8. ストレージ　&gt;　共有　&gt;　SMB共有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No.48　／　8. ストレージ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115568"/>
          <a:ext cx="8229600" cy="12166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114800"/>
                <a:gridCol w="4114800"/>
              </a:tblGrid>
              <a:tr h="304165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コマンドレット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主な用途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304165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Set-SmbBandwidthLimit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設定・変更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04165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Unblock-SmbClientAccessToServer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ブロック解除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304165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Update-SmbMultichannelConnection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更新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457200" y="2405380"/>
            <a:ext cx="8229600" cy="520700"/>
          </a:xfrm>
          <a:prstGeom prst="roundRect">
            <a:avLst/>
          </a:prstGeom>
          <a:noFill/>
          <a:ln w="1143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eiryo"/>
                <a:ea typeface="Meiryo"/>
                <a:cs typeface="Meiryo"/>
              </a:rPr>
              <a:t>補足：上表はモジュールの代表的なコマンドレットの抜粋です。全体は Get-Command -Module &lt;モジュール名&gt; で確認できます。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SMB共有(SmbShare)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8. ストレージ　&gt;　共有　&gt;　SMB共有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No.48　／　8. ストレージ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定義ファイル・場所（早見）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28242"/>
          <a:ext cx="8229600" cy="7848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419088"/>
                <a:gridCol w="1810512"/>
              </a:tblGrid>
              <a:tr h="26162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場所・ファイル・モジュール（標準既定の例）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確認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smbshare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実環境で要確認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smbwitness モジュール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実環境で要確認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457200" y="2286254"/>
            <a:ext cx="8229600" cy="333502"/>
          </a:xfrm>
          <a:prstGeom prst="roundRect">
            <a:avLst/>
          </a:prstGeom>
          <a:noFill/>
          <a:ln w="1143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eiryo"/>
                <a:ea typeface="Meiryo"/>
                <a:cs typeface="Meiryo"/>
              </a:rPr>
              <a:t>補足：パス・既定値はバージョン/構成で異なります。必ず実環境で確認してください。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SMB共有(SmbShare)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8. ストレージ　&gt;　共有　&gt;　SMB共有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No.48　／　8. ストレージ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用語集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28242"/>
          <a:ext cx="8229600" cy="216535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45920"/>
                <a:gridCol w="2139696"/>
                <a:gridCol w="4443984"/>
              </a:tblGrid>
              <a:tr h="360891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用語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区分・変更可否（既定値）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説明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360891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smbshare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モジュール名（固定）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本項目の操作を提供するモジュール。Import-Module smbshare で利用。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60891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モジュール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配布単位（固定名）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関連コマンドレットをまとめた配布単位。Import-Moduleで読み込む。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360891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SMB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プロトコル（固定名）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Windowsのファイル共有プロトコル。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60891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Get-SmbShare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コマンドレット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本項目で使用する主要コマンドレット。Get-Help Get-SmbShare で詳細。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360895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New-SmbShare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コマンドレット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本項目で使用する主要コマンドレット。Get-Help New-SmbShare で詳細。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SMB共有(SmbShare)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8. ストレージ　&gt;　共有　&gt;　SMB共有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No.48　／　8. ストレージ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出典（Microsoft Learn 公式資料）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268071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0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・Get-SmbShare
https://learn.microsoft.com/ja-jp/powershell/module/smbshare/get-smbshare/?view=windowsserver2022-ps</a:t>
            </a:r>
          </a:p>
          <a:p>
            <a:pPr algn="l"/>
            <a:r>
              <a:rPr sz="10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・New-SmbShare
https://learn.microsoft.com/ja-jp/powershell/module/smbshare/new-smbshare/?view=windowsserver2022-ps</a:t>
            </a:r>
          </a:p>
          <a:p>
            <a:pPr algn="l"/>
            <a:r>
              <a:rPr sz="10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・Get-SmbOpenFile
https://learn.microsoft.com/ja-jp/powershell/module/smbshare/get-smbopenfile/?view=windowsserver2022-ps</a:t>
            </a:r>
          </a:p>
          <a:p>
            <a:pPr algn="l"/>
            <a:r>
              <a:rPr sz="10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・smbshare モジュール 概要
https://learn.microsoft.com/ja-jp/powershell/module/smbshare/?view=windowsserver2022-ps</a:t>
            </a:r>
          </a:p>
          <a:p>
            <a:pPr algn="l"/>
            <a:r>
              <a:rPr sz="10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・smbwitness モジュール 概要
https://learn.microsoft.com/ja-jp/powershell/module/smbwitness/?view=windowsserver2022-ps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SMB共有(SmbShare)（続き）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8. ストレージ　&gt;　共有　&gt;　SMB共有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No.48　／　8. ストレージ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115568"/>
            <a:ext cx="8229600" cy="520700"/>
          </a:xfrm>
          <a:prstGeom prst="roundRect">
            <a:avLst/>
          </a:prstGeom>
          <a:noFill/>
          <a:ln w="1143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eiryo"/>
                <a:ea typeface="Meiryo"/>
                <a:cs typeface="Meiryo"/>
              </a:rPr>
              <a:t>補足：日本語訳が機械翻訳の頁は英語原文（上記URL）を正とします。社内既存ナレッジ（C:\oskb PS51-WS2022 4,030件）とも整合。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