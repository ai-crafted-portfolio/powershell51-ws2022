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30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Windows Server 2022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25880"/>
            <a:ext cx="822960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30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ユーザー・グループ・OUの管理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2194560"/>
            <a:ext cx="8229600" cy="0"/>
          </a:xfrm>
          <a:prstGeom prst="bentConnector3">
            <a:avLst/>
          </a:prstGeom>
          <a:ln w="2540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2304288"/>
            <a:ext cx="8229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2. Active Directoryドメインサービス　&gt;　オブジェクト　&gt;　ユーザー/グループ/OU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5176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012183"/>
            <a:ext cx="8229600" cy="46837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5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凡例：・＝要点／－＝補足　｜　枠線囲みのMS Gothic＝コマンド・設定　｜　出典はMicrosoft Learn公式（末尾スライドにURL）。値・パスは標準既定の例で実環境確認が必要。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ユーザー・グループ・OUの管理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2. Active Directoryドメインサービス　&gt;　オブジェクト　&gt;　ユーザー/グループ/OU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No.11　／　2. Active Directoryドメインサービス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この研修シリーズでの位置づけ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311886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・1. サーバ管理基盤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・▶ 2. Active Directoryドメインサービス　（この項目が属する分類）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・3. 認証・証明書・フェデレーション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・4. グループポリシー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・5. DNS/DHCP/IPAM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・6. ネットワーク構成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・7. SDN・ネットワーク仮想化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・8. ストレージ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・9. 分散ファイル・レプリケーション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・10. クラスタリング・可用性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・11. Hyper-V仮想化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・12. リモートデスクトップ・アプリ配信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・13. Web/アプリ・配置基盤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・14. セキュリティ・ハードニング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・15. バックアップ・保守・診断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ユーザー・グループ・OUの管理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2. Active Directoryドメインサービス　&gt;　オブジェクト　&gt;　ユーザー/グループ/OU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No.11　／　2. Active Directoryドメインサービス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扱う対象と前提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ユーザーやコンピューターを一元管理する認証の中核。ドメイン構築・オブジェクト管理・複製・保守を扱う分類です。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06880"/>
            <a:ext cx="8229600" cy="259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アカウント/グループ/組織単位(OU)の作成・変更・委任。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02536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前提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15210"/>
            <a:ext cx="8229600" cy="84023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・該当する役割/機能をサーバーマネージャーまたは Install-WindowsFeature で導入済みであること。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・管理コマンドは activedirectory モジュール（役割導入時に併せて追加）を使用する。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・操作は原則 PowerShell（管理者）で実行。GUIツールがある場合は併記。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ユーザー・グループ・OUの管理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2. Active Directoryドメインサービス　&gt;　オブジェクト　&gt;　ユーザー/グループ/OU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No.11　／　2. Active Directoryドメインサービス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想定作業（この項目で何をするか）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114909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・アカウント運用・委任の確認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・標準的な作業の流れ（参考）：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－現状の設定・構成を確認する（次スライドのコマンド・確認キー）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－必要に応じて作成・変更・削除など目的の操作を行う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－変更後は反映・動作を検証し、記録する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2305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使用判断のポイント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3573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この設定・機能が実環境で使われているかは、下記の確認キーで判断します。使っていなければ研修採用の要否を検討します。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ユーザー・グループ・OUの管理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2. Active Directoryドメインサービス　&gt;　オブジェクト　&gt;　ユーザー/グループ/OU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No.11　／　2. Active Directoryドメインサービス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主要コマンド（例）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28242"/>
            <a:ext cx="8229600" cy="895096"/>
          </a:xfrm>
          <a:prstGeom prst="rect">
            <a:avLst/>
          </a:prstGeom>
          <a:noFill/>
          <a:ln w="12700">
            <a:solidFill>
              <a:srgbClr val="9DB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Get-ADUser</a:t>
            </a:r>
          </a:p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New-ADUser</a:t>
            </a:r>
          </a:p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Get-ADGroup</a:t>
            </a:r>
          </a:p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New-ADOrganizationalUnit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78202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確認する値・キー（使用判断）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90876"/>
            <a:ext cx="8229600" cy="8585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・Get-ADUser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・New-ADUser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・Get-ADGroup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・New-ADOrganizationalUnit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ユーザー・グループ・OUの管理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2. Active Directoryドメインサービス　&gt;　オブジェクト　&gt;　ユーザー/グループ/OU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No.11　／　2. Active Directoryドメインサービス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この項目で使う主なコマンドレット（抜粋）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3048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/>
                <a:gridCol w="4114800"/>
              </a:tblGrid>
              <a:tr h="27709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主な用途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7709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Get-ADUser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709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New-ADUser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新規作成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7709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Get-ADGroup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709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New-ADOrganizationalUnit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新規作成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7709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Add-ADCentralAccessPolicyMember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追加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709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Clear-ADAccountExpiration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クリア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7709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Disable-ADAccount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無効化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709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Enable-ADAccount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有効化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7709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Grant-ADAuthenticationPolicySiloAccess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権限付与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710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Install-ADServiceAccount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インストール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ユーザー・グループ・OUの管理（続き）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2. Active Directoryドメインサービス　&gt;　オブジェクト　&gt;　ユーザー/グループ/OU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No.11　／　2. Active Directoryドメインサービス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115568"/>
          <a:ext cx="8229600" cy="16484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/>
                <a:gridCol w="4114800"/>
              </a:tblGrid>
              <a:tr h="32969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主な用途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329692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Move-ADDirectoryServer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移動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29692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Add-ADComputerServiceAccount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追加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329692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Add-ADDomainControllerPasswordReplicationPolicy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追加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29692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Add-ADFineGrainedPasswordPolicySubject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追加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57200" y="2837180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補足：上表はモジュールの代表的なコマンドレットの抜粋です。全体は Get-Command -Module &lt;モジュール名&gt; で確認できます。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ユーザー・グループ・OUの管理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2. Active Directoryドメインサービス　&gt;　オブジェクト　&gt;　ユーザー/グループ/OU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No.11　／　2. Active Directoryドメインサービス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定義ファイル・場所（早見）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523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19088"/>
                <a:gridCol w="1810512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場所・ファイル・モジュール（標準既定の例）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確認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activedirectory モジュール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実環境で要確認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2024633"/>
            <a:ext cx="8229600" cy="333502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補足：パス・既定値はバージョン/構成で異なります。必ず実環境で確認してください。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ユーザー・グループ・OUの管理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2. Active Directoryドメインサービス　&gt;　オブジェクト　&gt;　ユーザー/グループ/OU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No.11　／　2. Active Directoryドメインサービス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用語集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21653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5920"/>
                <a:gridCol w="2139696"/>
                <a:gridCol w="4443984"/>
              </a:tblGrid>
              <a:tr h="360891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用語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区分・変更可否（既定値）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説明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360891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activedirectory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モジュール名（固定）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本項目の操作を提供するモジュール。Import-Module activedirectory で利用。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60891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モジュール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配布単位（固定名）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関連コマンドレットをまとめた配布単位。Import-Moduleで読み込む。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360891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OU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オブジェクト（任意名）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組織単位。オブジェクトの整理とGPO適用/権限委任の単位。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60891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Get-ADUser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Get-ADUser で詳細。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360895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New-ADUser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New-ADUser で詳細。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ユーザー・グループ・OUの管理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2. Active Directoryドメインサービス　&gt;　オブジェクト　&gt;　ユーザー/グループ/OU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No.11　／　2. Active Directoryドメインサービス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出典（Microsoft Learn 公式資料）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68071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・Get-ADUser
https://learn.microsoft.com/ja-jp/powershell/module/activedirectory/get-aduser/?view=windowsserver2022-ps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・New-ADUser
https://learn.microsoft.com/ja-jp/powershell/module/activedirectory/new-aduser/?view=windowsserver2022-ps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・Get-ADGroup
https://learn.microsoft.com/ja-jp/powershell/module/activedirectory/get-adgroup/?view=windowsserver2022-ps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・New-ADOrganizationalUnit
https://learn.microsoft.com/ja-jp/powershell/module/activedirectory/new-adorganizationalunit/?view=windowsserver2022-ps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・activedirectory モジュール 概要
https://learn.microsoft.com/ja-jp/powershell/module/activedirectory/?view=windowsserver2022-ps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ユーザー・グループ・OUの管理（続き）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2. Active Directoryドメインサービス　&gt;　オブジェクト　&gt;　ユーザー/グループ/OU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No.11　／　2. Active Directoryドメインサービス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15568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補足：日本語訳が機械翻訳の頁は英語原文（上記URL）を正とします。社内既存ナレッジ（C:\oskb PS51-WS2022 4,030件）とも整合。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